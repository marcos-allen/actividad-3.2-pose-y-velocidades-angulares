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aser Arabic" charset="1" panose="00000500000000000000"/>
      <p:regular r:id="rId17"/>
    </p:embeddedFont>
    <p:embeddedFont>
      <p:font typeface="Montaser Arabic Bold" charset="1" panose="00000800000000000000"/>
      <p:regular r:id="rId18"/>
    </p:embeddedFont>
    <p:embeddedFont>
      <p:font typeface="Fira Code" charset="1" panose="020B0809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4210" y="1658898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93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28256" y="1853592"/>
            <a:ext cx="6131044" cy="6131019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700" t="0" r="-270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03925" y="-756520"/>
            <a:ext cx="2819922" cy="281992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97627" y="9431429"/>
            <a:ext cx="1820212" cy="996153"/>
          </a:xfrm>
          <a:custGeom>
            <a:avLst/>
            <a:gdLst/>
            <a:ahLst/>
            <a:cxnLst/>
            <a:rect r="r" b="b" t="t" l="l"/>
            <a:pathLst>
              <a:path h="996153" w="1820212">
                <a:moveTo>
                  <a:pt x="0" y="0"/>
                </a:moveTo>
                <a:lnTo>
                  <a:pt x="1820212" y="0"/>
                </a:lnTo>
                <a:lnTo>
                  <a:pt x="1820212" y="996153"/>
                </a:lnTo>
                <a:lnTo>
                  <a:pt x="0" y="996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5400000">
            <a:off x="16847270" y="-140035"/>
            <a:ext cx="1820212" cy="996153"/>
          </a:xfrm>
          <a:custGeom>
            <a:avLst/>
            <a:gdLst/>
            <a:ahLst/>
            <a:cxnLst/>
            <a:rect r="r" b="b" t="t" l="l"/>
            <a:pathLst>
              <a:path h="996153" w="1820212">
                <a:moveTo>
                  <a:pt x="1820212" y="996152"/>
                </a:moveTo>
                <a:lnTo>
                  <a:pt x="0" y="996152"/>
                </a:lnTo>
                <a:lnTo>
                  <a:pt x="0" y="0"/>
                </a:lnTo>
                <a:lnTo>
                  <a:pt x="1820212" y="0"/>
                </a:lnTo>
                <a:lnTo>
                  <a:pt x="1820212" y="9961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56407" y="7837185"/>
            <a:ext cx="1700970" cy="170097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2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46232" y="1326844"/>
            <a:ext cx="519608" cy="1473117"/>
          </a:xfrm>
          <a:custGeom>
            <a:avLst/>
            <a:gdLst/>
            <a:ahLst/>
            <a:cxnLst/>
            <a:rect r="r" b="b" t="t" l="l"/>
            <a:pathLst>
              <a:path h="1473117" w="519608">
                <a:moveTo>
                  <a:pt x="0" y="0"/>
                </a:moveTo>
                <a:lnTo>
                  <a:pt x="519608" y="0"/>
                </a:lnTo>
                <a:lnTo>
                  <a:pt x="519608" y="1473116"/>
                </a:lnTo>
                <a:lnTo>
                  <a:pt x="0" y="14731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06923" y="6196132"/>
            <a:ext cx="9297209" cy="138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66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Tania Sofia Arrazola Bello          |   A01738124</a:t>
            </a:r>
          </a:p>
          <a:p>
            <a:pPr algn="l">
              <a:lnSpc>
                <a:spcPts val="3737"/>
              </a:lnSpc>
            </a:pPr>
            <a:r>
              <a:rPr lang="en-US" sz="266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Iñaki Ahedo Madrid                    |   A01738231</a:t>
            </a:r>
          </a:p>
          <a:p>
            <a:pPr algn="l">
              <a:lnSpc>
                <a:spcPts val="3737"/>
              </a:lnSpc>
            </a:pPr>
            <a:r>
              <a:rPr lang="en-US" sz="266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Marcos Allen Martínez Cortés   |   A01737939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6923" y="3051652"/>
            <a:ext cx="9391829" cy="263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7"/>
              </a:lnSpc>
            </a:pPr>
            <a:r>
              <a:rPr lang="en-US" sz="7382" b="true">
                <a:solidFill>
                  <a:srgbClr val="EBECE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Actividad 3.2 (Pose y Velocidades Angulares)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6923" y="7965561"/>
            <a:ext cx="9050219" cy="44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b="true" sz="2803">
                <a:solidFill>
                  <a:srgbClr val="EBECE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Análisis cinemático y simulación de trayectorias.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12543" y="8950556"/>
            <a:ext cx="3893786" cy="32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62903" y="361528"/>
            <a:ext cx="9362054" cy="936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93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168557" y="-965180"/>
            <a:ext cx="2990530" cy="2653415"/>
          </a:xfrm>
          <a:custGeom>
            <a:avLst/>
            <a:gdLst/>
            <a:ahLst/>
            <a:cxnLst/>
            <a:rect r="r" b="b" t="t" l="l"/>
            <a:pathLst>
              <a:path h="2653415" w="2990530">
                <a:moveTo>
                  <a:pt x="0" y="0"/>
                </a:moveTo>
                <a:lnTo>
                  <a:pt x="2990529" y="0"/>
                </a:lnTo>
                <a:lnTo>
                  <a:pt x="2990529" y="2653416"/>
                </a:lnTo>
                <a:lnTo>
                  <a:pt x="0" y="265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54169" y="1944224"/>
            <a:ext cx="7931940" cy="6398552"/>
            <a:chOff x="0" y="0"/>
            <a:chExt cx="1257272" cy="1014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72" cy="1014219"/>
            </a:xfrm>
            <a:custGeom>
              <a:avLst/>
              <a:gdLst/>
              <a:ahLst/>
              <a:cxnLst/>
              <a:rect r="r" b="b" t="t" l="l"/>
              <a:pathLst>
                <a:path h="1014219" w="1257272">
                  <a:moveTo>
                    <a:pt x="97604" y="0"/>
                  </a:moveTo>
                  <a:lnTo>
                    <a:pt x="1159668" y="0"/>
                  </a:lnTo>
                  <a:cubicBezTo>
                    <a:pt x="1213573" y="0"/>
                    <a:pt x="1257272" y="43699"/>
                    <a:pt x="1257272" y="97604"/>
                  </a:cubicBezTo>
                  <a:lnTo>
                    <a:pt x="1257272" y="916614"/>
                  </a:lnTo>
                  <a:cubicBezTo>
                    <a:pt x="1257272" y="942501"/>
                    <a:pt x="1246989" y="967327"/>
                    <a:pt x="1228685" y="985631"/>
                  </a:cubicBezTo>
                  <a:cubicBezTo>
                    <a:pt x="1210380" y="1003935"/>
                    <a:pt x="1185554" y="1014219"/>
                    <a:pt x="1159668" y="1014219"/>
                  </a:cubicBezTo>
                  <a:lnTo>
                    <a:pt x="97604" y="1014219"/>
                  </a:lnTo>
                  <a:cubicBezTo>
                    <a:pt x="71718" y="1014219"/>
                    <a:pt x="46892" y="1003935"/>
                    <a:pt x="28588" y="985631"/>
                  </a:cubicBezTo>
                  <a:cubicBezTo>
                    <a:pt x="10283" y="967327"/>
                    <a:pt x="0" y="942501"/>
                    <a:pt x="0" y="916614"/>
                  </a:cubicBezTo>
                  <a:lnTo>
                    <a:pt x="0" y="97604"/>
                  </a:lnTo>
                  <a:cubicBezTo>
                    <a:pt x="0" y="71718"/>
                    <a:pt x="10283" y="46892"/>
                    <a:pt x="28588" y="28588"/>
                  </a:cubicBezTo>
                  <a:cubicBezTo>
                    <a:pt x="46892" y="10283"/>
                    <a:pt x="71718" y="0"/>
                    <a:pt x="9760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3" r="0" b="-38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02573" y="2491734"/>
            <a:ext cx="7367554" cy="203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Introducción y Objetivos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60428"/>
            <a:ext cx="8115300" cy="239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599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Desarrollar un simulador en MATLAB que permita predecir la trayectoria (pose) de un Puzzlebot simulado y calcular las velocidades angulares necesarias en cada motor para seguir rutas específicas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2496" y="4420958"/>
            <a:ext cx="5926047" cy="5394984"/>
            <a:chOff x="0" y="0"/>
            <a:chExt cx="7901395" cy="71933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52276"/>
              <a:ext cx="7901395" cy="6341037"/>
              <a:chOff x="0" y="0"/>
              <a:chExt cx="1679124" cy="13475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79124" cy="1347532"/>
              </a:xfrm>
              <a:custGeom>
                <a:avLst/>
                <a:gdLst/>
                <a:ahLst/>
                <a:cxnLst/>
                <a:rect r="r" b="b" t="t" l="l"/>
                <a:pathLst>
                  <a:path h="1347532" w="1679124">
                    <a:moveTo>
                      <a:pt x="66628" y="0"/>
                    </a:moveTo>
                    <a:lnTo>
                      <a:pt x="1612496" y="0"/>
                    </a:lnTo>
                    <a:cubicBezTo>
                      <a:pt x="1649294" y="0"/>
                      <a:pt x="1679124" y="29830"/>
                      <a:pt x="1679124" y="66628"/>
                    </a:cubicBezTo>
                    <a:lnTo>
                      <a:pt x="1679124" y="1280905"/>
                    </a:lnTo>
                    <a:cubicBezTo>
                      <a:pt x="1679124" y="1317702"/>
                      <a:pt x="1649294" y="1347532"/>
                      <a:pt x="1612496" y="1347532"/>
                    </a:cubicBezTo>
                    <a:lnTo>
                      <a:pt x="66628" y="1347532"/>
                    </a:lnTo>
                    <a:cubicBezTo>
                      <a:pt x="29830" y="1347532"/>
                      <a:pt x="0" y="1317702"/>
                      <a:pt x="0" y="1280905"/>
                    </a:cubicBezTo>
                    <a:lnTo>
                      <a:pt x="0" y="66628"/>
                    </a:lnTo>
                    <a:cubicBezTo>
                      <a:pt x="0" y="29830"/>
                      <a:pt x="29830" y="0"/>
                      <a:pt x="66628" y="0"/>
                    </a:cubicBezTo>
                    <a:close/>
                  </a:path>
                </a:pathLst>
              </a:custGeom>
              <a:solidFill>
                <a:srgbClr val="EBECE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679124" cy="1385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67638" y="0"/>
              <a:ext cx="3966120" cy="2218045"/>
              <a:chOff x="0" y="0"/>
              <a:chExt cx="145338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5338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3380">
                    <a:moveTo>
                      <a:pt x="726690" y="0"/>
                    </a:moveTo>
                    <a:cubicBezTo>
                      <a:pt x="325350" y="0"/>
                      <a:pt x="0" y="181951"/>
                      <a:pt x="0" y="406400"/>
                    </a:cubicBezTo>
                    <a:cubicBezTo>
                      <a:pt x="0" y="630849"/>
                      <a:pt x="325350" y="812800"/>
                      <a:pt x="726690" y="812800"/>
                    </a:cubicBezTo>
                    <a:cubicBezTo>
                      <a:pt x="1128030" y="812800"/>
                      <a:pt x="1453380" y="630849"/>
                      <a:pt x="1453380" y="406400"/>
                    </a:cubicBezTo>
                    <a:cubicBezTo>
                      <a:pt x="1453380" y="181951"/>
                      <a:pt x="1128030" y="0"/>
                      <a:pt x="726690" y="0"/>
                    </a:cubicBezTo>
                    <a:close/>
                  </a:path>
                </a:pathLst>
              </a:custGeom>
              <a:solidFill>
                <a:srgbClr val="EBEC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36254" y="38100"/>
                <a:ext cx="1180871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9270441" y="4386784"/>
            <a:ext cx="6205064" cy="5394984"/>
            <a:chOff x="0" y="0"/>
            <a:chExt cx="8273418" cy="719331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852276"/>
              <a:ext cx="8273418" cy="6341037"/>
              <a:chOff x="0" y="0"/>
              <a:chExt cx="1758182" cy="134753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58182" cy="1347532"/>
              </a:xfrm>
              <a:custGeom>
                <a:avLst/>
                <a:gdLst/>
                <a:ahLst/>
                <a:cxnLst/>
                <a:rect r="r" b="b" t="t" l="l"/>
                <a:pathLst>
                  <a:path h="1347532" w="1758182">
                    <a:moveTo>
                      <a:pt x="63632" y="0"/>
                    </a:moveTo>
                    <a:lnTo>
                      <a:pt x="1694551" y="0"/>
                    </a:lnTo>
                    <a:cubicBezTo>
                      <a:pt x="1711427" y="0"/>
                      <a:pt x="1727612" y="6704"/>
                      <a:pt x="1739545" y="18637"/>
                    </a:cubicBezTo>
                    <a:cubicBezTo>
                      <a:pt x="1751478" y="30570"/>
                      <a:pt x="1758182" y="46755"/>
                      <a:pt x="1758182" y="63632"/>
                    </a:cubicBezTo>
                    <a:lnTo>
                      <a:pt x="1758182" y="1283901"/>
                    </a:lnTo>
                    <a:cubicBezTo>
                      <a:pt x="1758182" y="1319044"/>
                      <a:pt x="1729694" y="1347532"/>
                      <a:pt x="1694551" y="1347532"/>
                    </a:cubicBezTo>
                    <a:lnTo>
                      <a:pt x="63632" y="1347532"/>
                    </a:lnTo>
                    <a:cubicBezTo>
                      <a:pt x="46755" y="1347532"/>
                      <a:pt x="30570" y="1340828"/>
                      <a:pt x="18637" y="1328895"/>
                    </a:cubicBezTo>
                    <a:cubicBezTo>
                      <a:pt x="6704" y="1316962"/>
                      <a:pt x="0" y="1300777"/>
                      <a:pt x="0" y="1283901"/>
                    </a:cubicBezTo>
                    <a:lnTo>
                      <a:pt x="0" y="63632"/>
                    </a:lnTo>
                    <a:cubicBezTo>
                      <a:pt x="0" y="28489"/>
                      <a:pt x="28489" y="0"/>
                      <a:pt x="63632" y="0"/>
                    </a:cubicBezTo>
                    <a:close/>
                  </a:path>
                </a:pathLst>
              </a:custGeom>
              <a:solidFill>
                <a:srgbClr val="EBECE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758182" cy="1385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60280" y="0"/>
              <a:ext cx="4152858" cy="2218045"/>
              <a:chOff x="0" y="0"/>
              <a:chExt cx="152181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52181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21810">
                    <a:moveTo>
                      <a:pt x="760905" y="0"/>
                    </a:moveTo>
                    <a:cubicBezTo>
                      <a:pt x="340669" y="0"/>
                      <a:pt x="0" y="181951"/>
                      <a:pt x="0" y="406400"/>
                    </a:cubicBezTo>
                    <a:cubicBezTo>
                      <a:pt x="0" y="630849"/>
                      <a:pt x="340669" y="812800"/>
                      <a:pt x="760905" y="812800"/>
                    </a:cubicBezTo>
                    <a:cubicBezTo>
                      <a:pt x="1181141" y="812800"/>
                      <a:pt x="1521810" y="630849"/>
                      <a:pt x="1521810" y="406400"/>
                    </a:cubicBezTo>
                    <a:cubicBezTo>
                      <a:pt x="1521810" y="181951"/>
                      <a:pt x="1181141" y="0"/>
                      <a:pt x="760905" y="0"/>
                    </a:cubicBezTo>
                    <a:close/>
                  </a:path>
                </a:pathLst>
              </a:custGeom>
              <a:solidFill>
                <a:srgbClr val="EBEC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42670" y="38100"/>
                <a:ext cx="1236471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538469" y="874241"/>
            <a:ext cx="11355551" cy="220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2"/>
              </a:lnSpc>
            </a:pPr>
            <a:r>
              <a:rPr lang="en-US" sz="7285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Metodología y Parámetros del Robot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7994" y="3312490"/>
            <a:ext cx="13248346" cy="95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9"/>
              </a:lnSpc>
            </a:pPr>
            <a:r>
              <a:rPr lang="en-US" sz="2553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 modeló un robot diferencial con las dimensiones físicas del Puzzlebot para calcular su movimiento.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4596" y="5786485"/>
            <a:ext cx="560938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8"/>
              </a:lnSpc>
              <a:spcBef>
                <a:spcPct val="0"/>
              </a:spcBef>
            </a:pPr>
            <a:r>
              <a:rPr lang="en-US" b="true" sz="2724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PARÁMETROS DEFINIDOS EN EL CÓDIGO: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1293" y="6679976"/>
            <a:ext cx="5262687" cy="242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806" b="true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Radio de las ruedas (r)</a:t>
            </a:r>
          </a:p>
          <a:p>
            <a:pPr algn="ctr">
              <a:lnSpc>
                <a:spcPts val="3928"/>
              </a:lnSpc>
            </a:pPr>
            <a:r>
              <a:rPr lang="en-US" sz="2806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0.05 m (5 cm).</a:t>
            </a:r>
          </a:p>
          <a:p>
            <a:pPr algn="ctr">
              <a:lnSpc>
                <a:spcPts val="3928"/>
              </a:lnSpc>
            </a:pPr>
          </a:p>
          <a:p>
            <a:pPr algn="ctr">
              <a:lnSpc>
                <a:spcPts val="3928"/>
              </a:lnSpc>
            </a:pPr>
            <a:r>
              <a:rPr lang="en-US" sz="2806" b="true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Distancia entre ruedas (l)</a:t>
            </a:r>
            <a:r>
              <a:rPr lang="en-US" sz="2806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</a:p>
          <a:p>
            <a:pPr algn="ctr">
              <a:lnSpc>
                <a:spcPts val="3928"/>
              </a:lnSpc>
            </a:pPr>
            <a:r>
              <a:rPr lang="en-US" sz="2806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0.17 m (17 cm).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10800000">
            <a:off x="14819748" y="-1334094"/>
            <a:ext cx="4457100" cy="4046789"/>
          </a:xfrm>
          <a:custGeom>
            <a:avLst/>
            <a:gdLst/>
            <a:ahLst/>
            <a:cxnLst/>
            <a:rect r="r" b="b" t="t" l="l"/>
            <a:pathLst>
              <a:path h="4046789" w="4457100">
                <a:moveTo>
                  <a:pt x="0" y="0"/>
                </a:moveTo>
                <a:lnTo>
                  <a:pt x="4457100" y="0"/>
                </a:lnTo>
                <a:lnTo>
                  <a:pt x="4457100" y="4046789"/>
                </a:lnTo>
                <a:lnTo>
                  <a:pt x="0" y="4046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-1242960" y="7504491"/>
            <a:ext cx="3592236" cy="1794524"/>
          </a:xfrm>
          <a:custGeom>
            <a:avLst/>
            <a:gdLst/>
            <a:ahLst/>
            <a:cxnLst/>
            <a:rect r="r" b="b" t="t" l="l"/>
            <a:pathLst>
              <a:path h="1794524" w="3592236">
                <a:moveTo>
                  <a:pt x="0" y="0"/>
                </a:moveTo>
                <a:lnTo>
                  <a:pt x="3592236" y="0"/>
                </a:lnTo>
                <a:lnTo>
                  <a:pt x="3592236" y="1794525"/>
                </a:lnTo>
                <a:lnTo>
                  <a:pt x="0" y="1794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-114011" y="6733877"/>
            <a:ext cx="1820212" cy="996153"/>
          </a:xfrm>
          <a:custGeom>
            <a:avLst/>
            <a:gdLst/>
            <a:ahLst/>
            <a:cxnLst/>
            <a:rect r="r" b="b" t="t" l="l"/>
            <a:pathLst>
              <a:path h="996153" w="1820212">
                <a:moveTo>
                  <a:pt x="0" y="0"/>
                </a:moveTo>
                <a:lnTo>
                  <a:pt x="1820212" y="0"/>
                </a:lnTo>
                <a:lnTo>
                  <a:pt x="1820212" y="996152"/>
                </a:lnTo>
                <a:lnTo>
                  <a:pt x="0" y="99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970826" y="6117059"/>
            <a:ext cx="560938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8"/>
              </a:lnSpc>
              <a:spcBef>
                <a:spcPct val="0"/>
              </a:spcBef>
            </a:pPr>
            <a:r>
              <a:rPr lang="en-US" b="true" sz="2724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VARIABLES DE ESTADO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59916" y="6847131"/>
            <a:ext cx="5031206" cy="178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5"/>
              </a:lnSpc>
            </a:pPr>
            <a:r>
              <a:rPr lang="en-US" sz="3404">
                <a:solidFill>
                  <a:srgbClr val="00132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Posición en el plano (x, y) y orientación (θ o phi).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1023" y="1523640"/>
            <a:ext cx="1140143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 Cinemático Aplicado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9334" y="4348546"/>
            <a:ext cx="3774563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EBECE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Cálculo de la Pose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334" y="4888296"/>
            <a:ext cx="13435398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 utiliza la integración numérica (Método de Euler) con un tiempo de muestreo (ts) de 0.1 segundos para actualizar la posición en cada instante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-177280" y="-1669827"/>
            <a:ext cx="3077529" cy="4138486"/>
          </a:xfrm>
          <a:custGeom>
            <a:avLst/>
            <a:gdLst/>
            <a:ahLst/>
            <a:cxnLst/>
            <a:rect r="r" b="b" t="t" l="l"/>
            <a:pathLst>
              <a:path h="4138486" w="3077529">
                <a:moveTo>
                  <a:pt x="0" y="0"/>
                </a:moveTo>
                <a:lnTo>
                  <a:pt x="3077528" y="0"/>
                </a:lnTo>
                <a:lnTo>
                  <a:pt x="3077528" y="4138486"/>
                </a:lnTo>
                <a:lnTo>
                  <a:pt x="0" y="413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720536" y="7738139"/>
            <a:ext cx="3077529" cy="4138486"/>
          </a:xfrm>
          <a:custGeom>
            <a:avLst/>
            <a:gdLst/>
            <a:ahLst/>
            <a:cxnLst/>
            <a:rect r="r" b="b" t="t" l="l"/>
            <a:pathLst>
              <a:path h="4138486" w="3077529">
                <a:moveTo>
                  <a:pt x="0" y="0"/>
                </a:moveTo>
                <a:lnTo>
                  <a:pt x="3077528" y="0"/>
                </a:lnTo>
                <a:lnTo>
                  <a:pt x="3077528" y="4138486"/>
                </a:lnTo>
                <a:lnTo>
                  <a:pt x="0" y="413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61271">
            <a:off x="13647958" y="-340366"/>
            <a:ext cx="6307212" cy="3150808"/>
          </a:xfrm>
          <a:custGeom>
            <a:avLst/>
            <a:gdLst/>
            <a:ahLst/>
            <a:cxnLst/>
            <a:rect r="r" b="b" t="t" l="l"/>
            <a:pathLst>
              <a:path h="3150808" w="6307212">
                <a:moveTo>
                  <a:pt x="0" y="0"/>
                </a:moveTo>
                <a:lnTo>
                  <a:pt x="6307212" y="0"/>
                </a:lnTo>
                <a:lnTo>
                  <a:pt x="6307212" y="3150808"/>
                </a:lnTo>
                <a:lnTo>
                  <a:pt x="0" y="3150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9896" y="5792659"/>
            <a:ext cx="12900530" cy="82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5"/>
              </a:lnSpc>
              <a:spcBef>
                <a:spcPct val="0"/>
              </a:spcBef>
            </a:pPr>
            <a:r>
              <a:rPr lang="en-US" sz="256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   x1(k+1)=x1(k) + xp1*ts ; % Integral numérica (método de Euler)</a:t>
            </a:r>
          </a:p>
          <a:p>
            <a:pPr algn="l" marL="0" indent="0" lvl="0">
              <a:lnSpc>
                <a:spcPts val="3335"/>
              </a:lnSpc>
              <a:spcBef>
                <a:spcPct val="0"/>
              </a:spcBef>
            </a:pPr>
            <a:r>
              <a:rPr lang="en-US" sz="256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   y1(k+1)=y1(k) + yp1*ts ; % Integral numérica (método de Euler)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9334" y="6901088"/>
            <a:ext cx="5095294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EBECE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Velocidad de las Ruedas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9334" y="7440838"/>
            <a:ext cx="13435398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Implementación de las fórmulas para obtener la velocidad angular de cada motor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5949" y="8079648"/>
            <a:ext cx="5831578" cy="9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w_r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(u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(l/2) * w) / r; 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w_l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(u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835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(l/2) * w) / r;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49896" y="8139281"/>
            <a:ext cx="2660415" cy="40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  <a:spcBef>
                <a:spcPct val="0"/>
              </a:spcBef>
            </a:pPr>
            <a:r>
              <a:rPr lang="en-US" sz="2468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Rueda derecha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9896" y="8633862"/>
            <a:ext cx="2660415" cy="40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  <a:spcBef>
                <a:spcPct val="0"/>
              </a:spcBef>
            </a:pPr>
            <a:r>
              <a:rPr lang="en-US" sz="2468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Rueda izquierda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9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4459" y="9038578"/>
            <a:ext cx="880227" cy="678575"/>
          </a:xfrm>
          <a:custGeom>
            <a:avLst/>
            <a:gdLst/>
            <a:ahLst/>
            <a:cxnLst/>
            <a:rect r="r" b="b" t="t" l="l"/>
            <a:pathLst>
              <a:path h="678575" w="880227">
                <a:moveTo>
                  <a:pt x="0" y="0"/>
                </a:moveTo>
                <a:lnTo>
                  <a:pt x="880227" y="0"/>
                </a:lnTo>
                <a:lnTo>
                  <a:pt x="880227" y="678575"/>
                </a:lnTo>
                <a:lnTo>
                  <a:pt x="0" y="678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09961" y="9258300"/>
            <a:ext cx="2819922" cy="281992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38027" y="-649623"/>
            <a:ext cx="3895448" cy="3753795"/>
          </a:xfrm>
          <a:custGeom>
            <a:avLst/>
            <a:gdLst/>
            <a:ahLst/>
            <a:cxnLst/>
            <a:rect r="r" b="b" t="t" l="l"/>
            <a:pathLst>
              <a:path h="3753795" w="3895448">
                <a:moveTo>
                  <a:pt x="0" y="0"/>
                </a:moveTo>
                <a:lnTo>
                  <a:pt x="3895448" y="0"/>
                </a:lnTo>
                <a:lnTo>
                  <a:pt x="3895448" y="3753795"/>
                </a:lnTo>
                <a:lnTo>
                  <a:pt x="0" y="3753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7205" y="6136206"/>
            <a:ext cx="4235425" cy="3959502"/>
          </a:xfrm>
          <a:custGeom>
            <a:avLst/>
            <a:gdLst/>
            <a:ahLst/>
            <a:cxnLst/>
            <a:rect r="r" b="b" t="t" l="l"/>
            <a:pathLst>
              <a:path h="3959502" w="4235425">
                <a:moveTo>
                  <a:pt x="0" y="0"/>
                </a:moveTo>
                <a:lnTo>
                  <a:pt x="4235425" y="0"/>
                </a:lnTo>
                <a:lnTo>
                  <a:pt x="4235425" y="3959501"/>
                </a:lnTo>
                <a:lnTo>
                  <a:pt x="0" y="3959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9961" y="2304572"/>
            <a:ext cx="3858029" cy="3793500"/>
          </a:xfrm>
          <a:custGeom>
            <a:avLst/>
            <a:gdLst/>
            <a:ahLst/>
            <a:cxnLst/>
            <a:rect r="r" b="b" t="t" l="l"/>
            <a:pathLst>
              <a:path h="3793500" w="3858029">
                <a:moveTo>
                  <a:pt x="0" y="0"/>
                </a:moveTo>
                <a:lnTo>
                  <a:pt x="3858029" y="0"/>
                </a:lnTo>
                <a:lnTo>
                  <a:pt x="3858029" y="3793500"/>
                </a:lnTo>
                <a:lnTo>
                  <a:pt x="0" y="379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31" t="-11235" r="-29609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01999" y="6136206"/>
            <a:ext cx="5148844" cy="3783953"/>
          </a:xfrm>
          <a:custGeom>
            <a:avLst/>
            <a:gdLst/>
            <a:ahLst/>
            <a:cxnLst/>
            <a:rect r="r" b="b" t="t" l="l"/>
            <a:pathLst>
              <a:path h="3783953" w="5148844">
                <a:moveTo>
                  <a:pt x="0" y="0"/>
                </a:moveTo>
                <a:lnTo>
                  <a:pt x="5148844" y="0"/>
                </a:lnTo>
                <a:lnTo>
                  <a:pt x="5148844" y="3783953"/>
                </a:lnTo>
                <a:lnTo>
                  <a:pt x="0" y="37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080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01999" y="2304572"/>
            <a:ext cx="5093185" cy="3370754"/>
          </a:xfrm>
          <a:custGeom>
            <a:avLst/>
            <a:gdLst/>
            <a:ahLst/>
            <a:cxnLst/>
            <a:rect r="r" b="b" t="t" l="l"/>
            <a:pathLst>
              <a:path h="3370754" w="5093185">
                <a:moveTo>
                  <a:pt x="0" y="0"/>
                </a:moveTo>
                <a:lnTo>
                  <a:pt x="5093186" y="0"/>
                </a:lnTo>
                <a:lnTo>
                  <a:pt x="5093186" y="3370754"/>
                </a:lnTo>
                <a:lnTo>
                  <a:pt x="0" y="3370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8421" t="0" r="-7223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49670" y="2304572"/>
            <a:ext cx="3599774" cy="3447021"/>
          </a:xfrm>
          <a:custGeom>
            <a:avLst/>
            <a:gdLst/>
            <a:ahLst/>
            <a:cxnLst/>
            <a:rect r="r" b="b" t="t" l="l"/>
            <a:pathLst>
              <a:path h="3447021" w="3599774">
                <a:moveTo>
                  <a:pt x="0" y="0"/>
                </a:moveTo>
                <a:lnTo>
                  <a:pt x="3599774" y="0"/>
                </a:lnTo>
                <a:lnTo>
                  <a:pt x="3599774" y="3447021"/>
                </a:lnTo>
                <a:lnTo>
                  <a:pt x="0" y="3447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8205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49670" y="5898696"/>
            <a:ext cx="4121319" cy="4021462"/>
          </a:xfrm>
          <a:custGeom>
            <a:avLst/>
            <a:gdLst/>
            <a:ahLst/>
            <a:cxnLst/>
            <a:rect r="r" b="b" t="t" l="l"/>
            <a:pathLst>
              <a:path h="4021462" w="4121319">
                <a:moveTo>
                  <a:pt x="0" y="0"/>
                </a:moveTo>
                <a:lnTo>
                  <a:pt x="4121320" y="0"/>
                </a:lnTo>
                <a:lnTo>
                  <a:pt x="4121320" y="4021463"/>
                </a:lnTo>
                <a:lnTo>
                  <a:pt x="0" y="4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284" t="0" r="-928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09147"/>
            <a:ext cx="1410546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Trayectorias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4210" y="1658898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93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6407" y="7837185"/>
            <a:ext cx="1700970" cy="17009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F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48480" y="4262275"/>
            <a:ext cx="11606353" cy="357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170" b="true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Entradas de Referencia: </a:t>
            </a:r>
            <a:r>
              <a:rPr lang="en-US" sz="3170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 definieron vectores de velocidad lineal u y angular w para generar la ruta.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 b="true">
                <a:solidFill>
                  <a:srgbClr val="051F3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Comportamiento:</a:t>
            </a:r>
            <a:r>
              <a:rPr lang="en-US" sz="3170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El robot ejecuta tramos rectos cuando w = 0 y giros sobre su propio eje cuando u = 0 y w tiene un valor (como pi/2).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002" y="1652283"/>
            <a:ext cx="9163536" cy="206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6"/>
              </a:lnSpc>
            </a:pPr>
            <a:r>
              <a:rPr lang="en-US" sz="7976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 de Movimiento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622163" y="8835339"/>
            <a:ext cx="3592236" cy="1794524"/>
          </a:xfrm>
          <a:custGeom>
            <a:avLst/>
            <a:gdLst/>
            <a:ahLst/>
            <a:cxnLst/>
            <a:rect r="r" b="b" t="t" l="l"/>
            <a:pathLst>
              <a:path h="1794524" w="3592236">
                <a:moveTo>
                  <a:pt x="0" y="0"/>
                </a:moveTo>
                <a:lnTo>
                  <a:pt x="3592236" y="0"/>
                </a:lnTo>
                <a:lnTo>
                  <a:pt x="3592236" y="1794525"/>
                </a:lnTo>
                <a:lnTo>
                  <a:pt x="0" y="1794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38374" y="8991588"/>
            <a:ext cx="1820212" cy="996153"/>
          </a:xfrm>
          <a:custGeom>
            <a:avLst/>
            <a:gdLst/>
            <a:ahLst/>
            <a:cxnLst/>
            <a:rect r="r" b="b" t="t" l="l"/>
            <a:pathLst>
              <a:path h="996153" w="1820212">
                <a:moveTo>
                  <a:pt x="0" y="0"/>
                </a:moveTo>
                <a:lnTo>
                  <a:pt x="1820213" y="0"/>
                </a:lnTo>
                <a:lnTo>
                  <a:pt x="1820213" y="996152"/>
                </a:lnTo>
                <a:lnTo>
                  <a:pt x="0" y="996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1690" y="1363260"/>
            <a:ext cx="11624620" cy="95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1"/>
              </a:lnSpc>
            </a:pPr>
            <a:r>
              <a:rPr lang="en-US" sz="625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 de Telemetría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6611" y="3531493"/>
            <a:ext cx="5522976" cy="74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6"/>
              </a:lnSpc>
              <a:spcBef>
                <a:spcPct val="0"/>
              </a:spcBef>
            </a:pPr>
            <a:r>
              <a:rPr lang="en-US" b="true" sz="4682">
                <a:solidFill>
                  <a:srgbClr val="EBECE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Valores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9334" y="4569735"/>
            <a:ext cx="13905462" cy="271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341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 [m/s]: Perfil de velocidad lineal.</a:t>
            </a:r>
          </a:p>
          <a:p>
            <a:pPr algn="l">
              <a:lnSpc>
                <a:spcPts val="4343"/>
              </a:lnSpc>
            </a:pPr>
            <a:r>
              <a:rPr lang="en-US" sz="3341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 [rad/s]: Perfil de velocidad angular.</a:t>
            </a:r>
          </a:p>
          <a:p>
            <a:pPr algn="l">
              <a:lnSpc>
                <a:spcPts val="4343"/>
              </a:lnSpc>
            </a:pPr>
            <a:r>
              <a:rPr lang="en-US" sz="3341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x e y [m]: Evolución de la posición en el plano cartesiano.</a:t>
            </a:r>
          </a:p>
          <a:p>
            <a:pPr algn="l">
              <a:lnSpc>
                <a:spcPts val="4343"/>
              </a:lnSpc>
            </a:pPr>
            <a:r>
              <a:rPr lang="en-US" sz="3341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θ [rad]: Cambios en la orientación del Puzzlebot.</a:t>
            </a:r>
          </a:p>
          <a:p>
            <a:pPr algn="l" marL="0" indent="0" lvl="0">
              <a:lnSpc>
                <a:spcPts val="4343"/>
              </a:lnSpc>
              <a:spcBef>
                <a:spcPct val="0"/>
              </a:spcBef>
            </a:pPr>
            <a:r>
              <a:rPr lang="en-US" sz="3341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wr y wl [rad/s]: Velocidad requerida en cada motor.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-177280" y="-1669827"/>
            <a:ext cx="3077529" cy="4138486"/>
          </a:xfrm>
          <a:custGeom>
            <a:avLst/>
            <a:gdLst/>
            <a:ahLst/>
            <a:cxnLst/>
            <a:rect r="r" b="b" t="t" l="l"/>
            <a:pathLst>
              <a:path h="4138486" w="3077529">
                <a:moveTo>
                  <a:pt x="0" y="0"/>
                </a:moveTo>
                <a:lnTo>
                  <a:pt x="3077528" y="0"/>
                </a:lnTo>
                <a:lnTo>
                  <a:pt x="3077528" y="4138486"/>
                </a:lnTo>
                <a:lnTo>
                  <a:pt x="0" y="413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720536" y="7738139"/>
            <a:ext cx="3077529" cy="4138486"/>
          </a:xfrm>
          <a:custGeom>
            <a:avLst/>
            <a:gdLst/>
            <a:ahLst/>
            <a:cxnLst/>
            <a:rect r="r" b="b" t="t" l="l"/>
            <a:pathLst>
              <a:path h="4138486" w="3077529">
                <a:moveTo>
                  <a:pt x="0" y="0"/>
                </a:moveTo>
                <a:lnTo>
                  <a:pt x="3077528" y="0"/>
                </a:lnTo>
                <a:lnTo>
                  <a:pt x="3077528" y="4138486"/>
                </a:lnTo>
                <a:lnTo>
                  <a:pt x="0" y="413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61271">
            <a:off x="13647958" y="-340366"/>
            <a:ext cx="6307212" cy="3150808"/>
          </a:xfrm>
          <a:custGeom>
            <a:avLst/>
            <a:gdLst/>
            <a:ahLst/>
            <a:cxnLst/>
            <a:rect r="r" b="b" t="t" l="l"/>
            <a:pathLst>
              <a:path h="3150808" w="6307212">
                <a:moveTo>
                  <a:pt x="0" y="0"/>
                </a:moveTo>
                <a:lnTo>
                  <a:pt x="6307212" y="0"/>
                </a:lnTo>
                <a:lnTo>
                  <a:pt x="6307212" y="3150808"/>
                </a:lnTo>
                <a:lnTo>
                  <a:pt x="0" y="3150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9126" y="1780989"/>
            <a:ext cx="16200174" cy="8221588"/>
          </a:xfrm>
          <a:custGeom>
            <a:avLst/>
            <a:gdLst/>
            <a:ahLst/>
            <a:cxnLst/>
            <a:rect r="r" b="b" t="t" l="l"/>
            <a:pathLst>
              <a:path h="8221588" w="16200174">
                <a:moveTo>
                  <a:pt x="0" y="0"/>
                </a:moveTo>
                <a:lnTo>
                  <a:pt x="16200174" y="0"/>
                </a:lnTo>
                <a:lnTo>
                  <a:pt x="16200174" y="8221588"/>
                </a:lnTo>
                <a:lnTo>
                  <a:pt x="0" y="8221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6166" y="545707"/>
            <a:ext cx="11624620" cy="95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1"/>
              </a:lnSpc>
            </a:pPr>
            <a:r>
              <a:rPr lang="en-US" sz="625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 de Telemetría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90786" y="94202"/>
            <a:ext cx="3146067" cy="1916473"/>
          </a:xfrm>
          <a:custGeom>
            <a:avLst/>
            <a:gdLst/>
            <a:ahLst/>
            <a:cxnLst/>
            <a:rect r="r" b="b" t="t" l="l"/>
            <a:pathLst>
              <a:path h="1916473" w="3146067">
                <a:moveTo>
                  <a:pt x="0" y="0"/>
                </a:moveTo>
                <a:lnTo>
                  <a:pt x="3146067" y="0"/>
                </a:lnTo>
                <a:lnTo>
                  <a:pt x="3146067" y="1916473"/>
                </a:lnTo>
                <a:lnTo>
                  <a:pt x="0" y="1916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464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0786" y="307680"/>
            <a:ext cx="2568514" cy="1719749"/>
          </a:xfrm>
          <a:custGeom>
            <a:avLst/>
            <a:gdLst/>
            <a:ahLst/>
            <a:cxnLst/>
            <a:rect r="r" b="b" t="t" l="l"/>
            <a:pathLst>
              <a:path h="1719749" w="2568514">
                <a:moveTo>
                  <a:pt x="0" y="0"/>
                </a:moveTo>
                <a:lnTo>
                  <a:pt x="2568514" y="0"/>
                </a:lnTo>
                <a:lnTo>
                  <a:pt x="2568514" y="1719749"/>
                </a:lnTo>
                <a:lnTo>
                  <a:pt x="0" y="171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84" t="-45735" r="-92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0792" y="2203163"/>
            <a:ext cx="15721754" cy="7055137"/>
          </a:xfrm>
          <a:custGeom>
            <a:avLst/>
            <a:gdLst/>
            <a:ahLst/>
            <a:cxnLst/>
            <a:rect r="r" b="b" t="t" l="l"/>
            <a:pathLst>
              <a:path h="7055137" w="15721754">
                <a:moveTo>
                  <a:pt x="0" y="0"/>
                </a:moveTo>
                <a:lnTo>
                  <a:pt x="15721754" y="0"/>
                </a:lnTo>
                <a:lnTo>
                  <a:pt x="15721754" y="7055137"/>
                </a:lnTo>
                <a:lnTo>
                  <a:pt x="0" y="7055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66166" y="545707"/>
            <a:ext cx="11624620" cy="95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1"/>
              </a:lnSpc>
            </a:pPr>
            <a:r>
              <a:rPr lang="en-US" sz="625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 de Telemetría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8252" y="2217523"/>
            <a:ext cx="13950277" cy="7759842"/>
          </a:xfrm>
          <a:custGeom>
            <a:avLst/>
            <a:gdLst/>
            <a:ahLst/>
            <a:cxnLst/>
            <a:rect r="r" b="b" t="t" l="l"/>
            <a:pathLst>
              <a:path h="7759842" w="13950277">
                <a:moveTo>
                  <a:pt x="0" y="0"/>
                </a:moveTo>
                <a:lnTo>
                  <a:pt x="13950278" y="0"/>
                </a:lnTo>
                <a:lnTo>
                  <a:pt x="13950278" y="7759842"/>
                </a:lnTo>
                <a:lnTo>
                  <a:pt x="0" y="7759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6166" y="545707"/>
            <a:ext cx="11624620" cy="95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1"/>
              </a:lnSpc>
            </a:pPr>
            <a:r>
              <a:rPr lang="en-US" sz="6259">
                <a:solidFill>
                  <a:srgbClr val="EBECE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 de Telemetría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039395" y="153228"/>
            <a:ext cx="2930555" cy="2333860"/>
          </a:xfrm>
          <a:custGeom>
            <a:avLst/>
            <a:gdLst/>
            <a:ahLst/>
            <a:cxnLst/>
            <a:rect r="r" b="b" t="t" l="l"/>
            <a:pathLst>
              <a:path h="2333860" w="2930555">
                <a:moveTo>
                  <a:pt x="0" y="0"/>
                </a:moveTo>
                <a:lnTo>
                  <a:pt x="2930555" y="0"/>
                </a:lnTo>
                <a:lnTo>
                  <a:pt x="2930555" y="2333860"/>
                </a:lnTo>
                <a:lnTo>
                  <a:pt x="0" y="233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110" r="-39911" b="-1395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4210" y="1658898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93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6407" y="7837185"/>
            <a:ext cx="1700970" cy="17009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F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4578" y="2920992"/>
            <a:ext cx="11606353" cy="537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simulación en MATLAB permite validar visualmente que el robot no colisione y siga la ruta esperada.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cálculo de las velocidades angulares de las ruedas es el paso final necesario para poder programar los motores reales del Puzzlebot.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modelo de Euler es preciso para las velocidades y tiempos de muestreo manejados en esta actividad.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002" y="1652283"/>
            <a:ext cx="9163536" cy="105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6"/>
              </a:lnSpc>
            </a:pPr>
            <a:r>
              <a:rPr lang="en-US" sz="7976">
                <a:solidFill>
                  <a:srgbClr val="051F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622163" y="8835339"/>
            <a:ext cx="3592236" cy="1794524"/>
          </a:xfrm>
          <a:custGeom>
            <a:avLst/>
            <a:gdLst/>
            <a:ahLst/>
            <a:cxnLst/>
            <a:rect r="r" b="b" t="t" l="l"/>
            <a:pathLst>
              <a:path h="1794524" w="3592236">
                <a:moveTo>
                  <a:pt x="0" y="0"/>
                </a:moveTo>
                <a:lnTo>
                  <a:pt x="3592236" y="0"/>
                </a:lnTo>
                <a:lnTo>
                  <a:pt x="3592236" y="1794525"/>
                </a:lnTo>
                <a:lnTo>
                  <a:pt x="0" y="1794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38374" y="8991588"/>
            <a:ext cx="1820212" cy="996153"/>
          </a:xfrm>
          <a:custGeom>
            <a:avLst/>
            <a:gdLst/>
            <a:ahLst/>
            <a:cxnLst/>
            <a:rect r="r" b="b" t="t" l="l"/>
            <a:pathLst>
              <a:path h="996153" w="1820212">
                <a:moveTo>
                  <a:pt x="0" y="0"/>
                </a:moveTo>
                <a:lnTo>
                  <a:pt x="1820213" y="0"/>
                </a:lnTo>
                <a:lnTo>
                  <a:pt x="1820213" y="996152"/>
                </a:lnTo>
                <a:lnTo>
                  <a:pt x="0" y="996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DAHG1xZSpXk</dc:identifier>
  <dcterms:modified xsi:type="dcterms:W3CDTF">2011-08-01T06:04:30Z</dcterms:modified>
  <cp:revision>1</cp:revision>
  <dc:title>Actividad 3.2 (Pose y Velocidades Angulares)</dc:title>
</cp:coreProperties>
</file>